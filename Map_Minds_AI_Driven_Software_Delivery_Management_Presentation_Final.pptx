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B3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50" b="1">
                <a:solidFill>
                  <a:srgbClr val="5B33AE"/>
                </a:solidFill>
                <a:latin typeface="Aptos"/>
              </a:rPr>
              <a:t>CYBAGE HACKATHON 2026</a:t>
            </a:r>
            <a:endParaRPr sz="9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160082"/>
            <a:ext cx="7680960" cy="10814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3400" b="1">
                <a:solidFill>
                  <a:srgbClr val="141F3D"/>
                </a:solidFill>
                <a:latin typeface="Aptos"/>
              </a:rPr>
              <a:t>AI-Powered End-to-End
Software Delivery</a:t>
            </a:r>
            <a:endParaRPr lang="en-US" sz="34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2578608"/>
            <a:ext cx="745236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5B677E"/>
                </a:solidFill>
                <a:latin typeface="Aptos"/>
              </a:rPr>
              <a:t>From Jira ticket to production — powered by AI and AWS.</a:t>
            </a:r>
            <a:endParaRPr sz="160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50250" y="1221994"/>
            <a:ext cx="2606040" cy="1874519"/>
          </a:xfrm>
          <a:prstGeom prst="roundRect">
            <a:avLst/>
          </a:prstGeom>
          <a:solidFill>
            <a:srgbClr val="F8F9FC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0976" y="1459738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5B677E"/>
                </a:solidFill>
                <a:latin typeface="Aptos"/>
              </a:rPr>
              <a:t>TEAM</a:t>
            </a:r>
            <a:endParaRPr sz="850" b="1">
              <a:solidFill>
                <a:srgbClr val="5B677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0976" y="1788922"/>
            <a:ext cx="2011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41F3D"/>
                </a:solidFill>
                <a:latin typeface="Aptos"/>
              </a:rPr>
              <a:t>MAP MINDS</a:t>
            </a:r>
            <a:endParaRPr sz="22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70976" y="237413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5B33AE"/>
                </a:solidFill>
                <a:latin typeface="Aptos"/>
              </a:rPr>
              <a:t>Hi-Tech Vertical</a:t>
            </a:r>
            <a:endParaRPr sz="11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3232" y="3592830"/>
            <a:ext cx="5166360" cy="566928"/>
          </a:xfrm>
          <a:prstGeom prst="roundRect">
            <a:avLst/>
          </a:prstGeom>
          <a:solidFill>
            <a:srgbClr val="EFE9FA"/>
          </a:solidFill>
          <a:ln w="10160">
            <a:solidFill>
              <a:srgbClr val="EF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41293"/>
            <a:ext cx="4800600" cy="19685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050" b="1">
                <a:solidFill>
                  <a:srgbClr val="5B33AE"/>
                </a:solidFill>
                <a:latin typeface="Aptos"/>
              </a:rPr>
              <a:t>THEME: </a:t>
            </a:r>
            <a:r>
              <a:rPr sz="1050" b="1">
                <a:solidFill>
                  <a:srgbClr val="5B33AE"/>
                </a:solidFill>
                <a:latin typeface="Aptos"/>
              </a:rPr>
              <a:t>DARK FACTORY  |  FROM CODE TO DEPLOY</a:t>
            </a:r>
            <a:endParaRPr sz="10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4828032"/>
            <a:ext cx="32461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5120640"/>
            <a:ext cx="201168" cy="201168"/>
          </a:xfrm>
          <a:prstGeom prst="ellipse">
            <a:avLst/>
          </a:prstGeom>
          <a:solidFill>
            <a:srgbClr val="2A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83480"/>
            <a:ext cx="23317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41F3D"/>
                </a:solidFill>
                <a:latin typeface="Aptos"/>
              </a:rPr>
              <a:t>AUTOMATED</a:t>
            </a:r>
            <a:endParaRPr sz="10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160" y="5285232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Reduce manual delivery overhead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206240" y="4828032"/>
            <a:ext cx="32461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07407" y="5120640"/>
            <a:ext cx="201168" cy="201168"/>
          </a:xfrm>
          <a:prstGeom prst="ellipse">
            <a:avLst/>
          </a:prstGeom>
          <a:solidFill>
            <a:srgbClr val="5B3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983480"/>
            <a:ext cx="23317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41F3D"/>
                </a:solidFill>
                <a:latin typeface="Aptos"/>
              </a:rPr>
              <a:t>INTELLIGENT</a:t>
            </a:r>
            <a:endParaRPr sz="10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73168" y="5285232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AI agents handle delivery stages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99248" y="4828032"/>
            <a:ext cx="32461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0416" y="5120640"/>
            <a:ext cx="201168" cy="201168"/>
          </a:xfrm>
          <a:prstGeom prst="ellipse">
            <a:avLst/>
          </a:prstGeom>
          <a:solidFill>
            <a:srgbClr val="19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4983480"/>
            <a:ext cx="23317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41F3D"/>
                </a:solidFill>
                <a:latin typeface="Aptos"/>
              </a:rPr>
              <a:t>GOVERNED</a:t>
            </a:r>
            <a:endParaRPr sz="10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66175" y="5285232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Human control at critical gates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1">
                <a:solidFill>
                  <a:srgbClr val="5B677E"/>
                </a:solidFill>
                <a:latin typeface="Aptos"/>
              </a:rPr>
              <a:t>MAP MINDS  |  HI-TECH  |  CYBAGE HACKATHON 2026</a:t>
            </a:r>
            <a:endParaRPr sz="720" b="1">
              <a:solidFill>
                <a:srgbClr val="5B677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50" b="1">
                <a:solidFill>
                  <a:srgbClr val="5B33AE"/>
                </a:solidFill>
                <a:latin typeface="Aptos"/>
              </a:rPr>
              <a:t>THE PROBLEM</a:t>
            </a:r>
            <a:endParaRPr sz="9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600" b="1">
                <a:solidFill>
                  <a:srgbClr val="141F3D"/>
                </a:solidFill>
                <a:latin typeface="Aptos"/>
              </a:rPr>
              <a:t>Software delivery is still too manual and fragmented</a:t>
            </a:r>
            <a:endParaRPr sz="26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3327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5B677E"/>
                </a:solidFill>
                <a:latin typeface="Aptos"/>
              </a:rPr>
              <a:t>Teams move through multiple handoffs, tools and decision points before a change reaches production.</a:t>
            </a:r>
            <a:endParaRPr sz="120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3840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50" b="1">
                <a:solidFill>
                  <a:srgbClr val="5B677E"/>
                </a:solidFill>
                <a:latin typeface="Aptos"/>
              </a:rPr>
              <a:t>02</a:t>
            </a:r>
            <a:endParaRPr sz="850" b="1">
              <a:solidFill>
                <a:srgbClr val="5B677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10927080" cy="932688"/>
          </a:xfrm>
          <a:prstGeom prst="roundRect">
            <a:avLst/>
          </a:prstGeom>
          <a:solidFill>
            <a:srgbClr val="F8F9FC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985" y="2167255"/>
            <a:ext cx="15087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5B33AE"/>
                </a:solidFill>
                <a:latin typeface="Aptos"/>
              </a:rPr>
              <a:t>PROBLEM STATEMENT</a:t>
            </a:r>
            <a:endParaRPr sz="8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4600" y="1901952"/>
            <a:ext cx="854964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80" b="1">
                <a:solidFill>
                  <a:srgbClr val="141F3D"/>
                </a:solidFill>
                <a:latin typeface="Aptos"/>
              </a:rPr>
              <a:t>Requirements, planning, coding, validation, review and deployment are disconnected — creating avoidable manual effort and limited end-to-end visibility.</a:t>
            </a:r>
            <a:endParaRPr sz="128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3383280" cy="1078992"/>
          </a:xfrm>
          <a:prstGeom prst="roundRect">
            <a:avLst/>
          </a:prstGeom>
          <a:solidFill>
            <a:srgbClr val="EBF3FD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200400"/>
            <a:ext cx="219456" cy="219456"/>
          </a:xfrm>
          <a:prstGeom prst="ellipse">
            <a:avLst/>
          </a:prstGeom>
          <a:solidFill>
            <a:srgbClr val="2A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3118104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Manual effort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29077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Repeated handoffs and coordination across delivery stages.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15968" y="2971800"/>
            <a:ext cx="3383280" cy="1078992"/>
          </a:xfrm>
          <a:prstGeom prst="roundRect">
            <a:avLst/>
          </a:prstGeom>
          <a:solidFill>
            <a:srgbClr val="FCF1E7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4568" y="3200400"/>
            <a:ext cx="219456" cy="219456"/>
          </a:xfrm>
          <a:prstGeom prst="ellipse">
            <a:avLst/>
          </a:prstGeom>
          <a:solidFill>
            <a:srgbClr val="CD6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3118104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Slow delivery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44568" y="3502152"/>
            <a:ext cx="29077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Engineering time is spent moving work between tools and people.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91856" y="2971800"/>
            <a:ext cx="3383280" cy="1078992"/>
          </a:xfrm>
          <a:prstGeom prst="roundRect">
            <a:avLst/>
          </a:prstGeom>
          <a:solidFill>
            <a:srgbClr val="EBF7EE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0456" y="3200400"/>
            <a:ext cx="219456" cy="219456"/>
          </a:xfrm>
          <a:prstGeom prst="ellipse">
            <a:avLst/>
          </a:prstGeom>
          <a:solidFill>
            <a:srgbClr val="36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3118104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Inconsistent quality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0456" y="3502152"/>
            <a:ext cx="29077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Implementation, testing and review practices vary by change.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3383280" cy="1078992"/>
          </a:xfrm>
          <a:prstGeom prst="roundRect">
            <a:avLst/>
          </a:prstGeom>
          <a:solidFill>
            <a:srgbClr val="FCEDF0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572000"/>
            <a:ext cx="219456" cy="219456"/>
          </a:xfrm>
          <a:prstGeom prst="ellipse">
            <a:avLst/>
          </a:prstGeom>
          <a:solidFill>
            <a:srgbClr val="B5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4489704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Late risk detection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873752"/>
            <a:ext cx="29077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Quality and security issues can surface after development work.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15968" y="4343400"/>
            <a:ext cx="3383280" cy="1078992"/>
          </a:xfrm>
          <a:prstGeom prst="roundRect">
            <a:avLst/>
          </a:prstGeom>
          <a:solidFill>
            <a:srgbClr val="EFE9FA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44568" y="4572000"/>
            <a:ext cx="219456" cy="219456"/>
          </a:xfrm>
          <a:prstGeom prst="ellipse">
            <a:avLst/>
          </a:prstGeom>
          <a:solidFill>
            <a:srgbClr val="5B3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4489704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Limited traceability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873752"/>
            <a:ext cx="29077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Hard to connect decisions, artifacts, evidence and recovery history.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991856" y="4343400"/>
            <a:ext cx="3383280" cy="1078992"/>
          </a:xfrm>
          <a:prstGeom prst="roundRect">
            <a:avLst/>
          </a:prstGeom>
          <a:solidFill>
            <a:srgbClr val="E8F7F7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0456" y="4572000"/>
            <a:ext cx="219456" cy="219456"/>
          </a:xfrm>
          <a:prstGeom prst="ellipse">
            <a:avLst/>
          </a:prstGeom>
          <a:solidFill>
            <a:srgbClr val="19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4489704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AI without guardrails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4873752"/>
            <a:ext cx="29077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20" b="0">
                <a:solidFill>
                  <a:srgbClr val="5B677E"/>
                </a:solidFill>
                <a:latin typeface="Aptos"/>
              </a:rPr>
              <a:t>Automation needs controls so mistakes do not propagate downstream.</a:t>
            </a:r>
            <a:endParaRPr sz="92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5669280"/>
            <a:ext cx="10927080" cy="493776"/>
          </a:xfrm>
          <a:prstGeom prst="roundRect">
            <a:avLst/>
          </a:prstGeom>
          <a:solidFill>
            <a:srgbClr val="141F3D"/>
          </a:solidFill>
          <a:ln>
            <a:solidFill>
              <a:srgbClr val="14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797296"/>
            <a:ext cx="11430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20" b="1">
                <a:solidFill>
                  <a:srgbClr val="CCBFF4"/>
                </a:solidFill>
                <a:latin typeface="Aptos"/>
              </a:rPr>
              <a:t>OUR RESPONSE</a:t>
            </a:r>
            <a:endParaRPr sz="820" b="1">
              <a:solidFill>
                <a:srgbClr val="CCBFF4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084831" y="5742432"/>
            <a:ext cx="90068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Orchestrate the full delivery lifecycle with AI agents, automated validation and human governance.</a:t>
            </a:r>
            <a:endParaRPr sz="11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1">
                <a:solidFill>
                  <a:srgbClr val="5B677E"/>
                </a:solidFill>
                <a:latin typeface="Aptos"/>
              </a:rPr>
              <a:t>MAP MINDS  |  HI-TECH  |  CYBAGE HACKATHON 2026</a:t>
            </a:r>
            <a:endParaRPr sz="720" b="1">
              <a:solidFill>
                <a:srgbClr val="5B677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50" b="1">
                <a:solidFill>
                  <a:srgbClr val="5B33AE"/>
                </a:solidFill>
                <a:latin typeface="Aptos"/>
              </a:rPr>
              <a:t>RESOLUTION + TECHNOLOGY</a:t>
            </a:r>
            <a:endParaRPr sz="9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600" b="1">
                <a:solidFill>
                  <a:srgbClr val="141F3D"/>
                </a:solidFill>
                <a:latin typeface="Aptos"/>
              </a:rPr>
              <a:t>An AI-orchestrated path from Jira request to deployed application</a:t>
            </a:r>
            <a:endParaRPr sz="26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3327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5B677E"/>
                </a:solidFill>
                <a:latin typeface="Aptos"/>
              </a:rPr>
              <a:t>AWS Step Functions coordinates specialized delivery agents, evidence collection, recovery and human approval.</a:t>
            </a:r>
            <a:endParaRPr sz="120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3840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50" b="1">
                <a:solidFill>
                  <a:srgbClr val="5B677E"/>
                </a:solidFill>
                <a:latin typeface="Aptos"/>
              </a:rPr>
              <a:t>03</a:t>
            </a:r>
            <a:endParaRPr sz="850" b="1">
              <a:solidFill>
                <a:srgbClr val="5B677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0040" y="1737360"/>
            <a:ext cx="8869680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1837943"/>
            <a:ext cx="6254496" cy="416966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326880" y="1737360"/>
            <a:ext cx="2267712" cy="4370832"/>
          </a:xfrm>
          <a:prstGeom prst="roundRect">
            <a:avLst/>
          </a:prstGeom>
          <a:solidFill>
            <a:srgbClr val="F8F9FC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1975104"/>
            <a:ext cx="1901952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5B33AE"/>
                </a:solidFill>
                <a:latin typeface="Aptos"/>
              </a:rPr>
              <a:t>TECHNOLOGY
STACK</a:t>
            </a:r>
            <a:endParaRPr sz="10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54896" y="2615184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AWS Step Functions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54896" y="2843784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Workflow orchestration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54896" y="3035808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AWS Lambda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54896" y="3264408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Agent execution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54896" y="3456432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Amazon S3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54896" y="3685031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Contracts + artifacts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54896" y="3877056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DynamoDB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54896" y="4105656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Workflow / recovery state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54896" y="4297680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CloudWatch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54896" y="4526280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Logs + observability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54896" y="4718304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GitHub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54896" y="4946904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Branches + PRs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54896" y="5138928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Jira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54896" y="5367528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Business request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54896" y="5559552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>
                <a:solidFill>
                  <a:srgbClr val="141F3D"/>
                </a:solidFill>
                <a:latin typeface="Aptos"/>
              </a:rPr>
              <a:t>AI / LLM</a:t>
            </a:r>
            <a:endParaRPr sz="9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54896" y="5788152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780" b="0">
                <a:solidFill>
                  <a:srgbClr val="5B677E"/>
                </a:solidFill>
                <a:latin typeface="Aptos"/>
              </a:rPr>
              <a:t>Planning + implementation</a:t>
            </a:r>
            <a:endParaRPr sz="78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1">
                <a:solidFill>
                  <a:srgbClr val="5B677E"/>
                </a:solidFill>
                <a:latin typeface="Aptos"/>
              </a:rPr>
              <a:t>MAP MINDS  |  HI-TECH  |  CYBAGE HACKATHON 2026</a:t>
            </a:r>
            <a:endParaRPr sz="720" b="1">
              <a:solidFill>
                <a:srgbClr val="5B677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50" b="1">
                <a:solidFill>
                  <a:srgbClr val="5B33AE"/>
                </a:solidFill>
                <a:latin typeface="Aptos"/>
              </a:rPr>
              <a:t>FUTURE ENHANCEMENTS</a:t>
            </a:r>
            <a:endParaRPr sz="95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7899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600" b="1">
                <a:solidFill>
                  <a:srgbClr val="141F3D"/>
                </a:solidFill>
                <a:latin typeface="Aptos"/>
              </a:rPr>
              <a:t>What we can add next?</a:t>
            </a:r>
            <a:endParaRPr sz="26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216152"/>
            <a:ext cx="1033272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5B677E"/>
                </a:solidFill>
                <a:latin typeface="Aptos"/>
              </a:rPr>
              <a:t>Extend the POC into a broader, more autonomous engineering platform.</a:t>
            </a:r>
            <a:endParaRPr sz="120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3840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50" b="1">
                <a:solidFill>
                  <a:srgbClr val="5B677E"/>
                </a:solidFill>
                <a:latin typeface="Aptos"/>
              </a:rPr>
              <a:t>04</a:t>
            </a:r>
            <a:endParaRPr sz="850" b="1">
              <a:solidFill>
                <a:srgbClr val="5B677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1627632"/>
          </a:xfrm>
          <a:prstGeom prst="roundRect">
            <a:avLst/>
          </a:prstGeom>
          <a:solidFill>
            <a:srgbClr val="EBF3FD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66543"/>
            <a:ext cx="256032" cy="256032"/>
          </a:xfrm>
          <a:prstGeom prst="ellipse">
            <a:avLst/>
          </a:prstGeom>
          <a:solidFill>
            <a:srgbClr val="2A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011680"/>
            <a:ext cx="23957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Integrated testing &amp; scanning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880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40" b="0">
                <a:solidFill>
                  <a:srgbClr val="5B677E"/>
                </a:solidFill>
                <a:latin typeface="Aptos"/>
              </a:rPr>
              <a:t>Connect third-party testing, code quality, vulnerability and security scanning tools.</a:t>
            </a:r>
            <a:endParaRPr sz="94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383280" cy="1627632"/>
          </a:xfrm>
          <a:prstGeom prst="roundRect">
            <a:avLst/>
          </a:prstGeom>
          <a:solidFill>
            <a:srgbClr val="EFE9FA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4568" y="2066543"/>
            <a:ext cx="256032" cy="256032"/>
          </a:xfrm>
          <a:prstGeom prst="ellipse">
            <a:avLst/>
          </a:prstGeom>
          <a:solidFill>
            <a:srgbClr val="5B3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2011680"/>
            <a:ext cx="23957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AI code review agent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578608"/>
            <a:ext cx="2880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40" b="0">
                <a:solidFill>
                  <a:srgbClr val="5B677E"/>
                </a:solidFill>
                <a:latin typeface="Aptos"/>
              </a:rPr>
              <a:t>Add an independent review agent to assess implementation quality before approval.</a:t>
            </a:r>
            <a:endParaRPr sz="94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91856" y="1828800"/>
            <a:ext cx="3383280" cy="1627632"/>
          </a:xfrm>
          <a:prstGeom prst="roundRect">
            <a:avLst/>
          </a:prstGeom>
          <a:solidFill>
            <a:srgbClr val="EBF7EE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0456" y="2066543"/>
            <a:ext cx="256032" cy="256032"/>
          </a:xfrm>
          <a:prstGeom prst="ellipse">
            <a:avLst/>
          </a:prstGeom>
          <a:solidFill>
            <a:srgbClr val="36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2011680"/>
            <a:ext cx="23957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Auto PR merge agent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0456" y="2578608"/>
            <a:ext cx="2880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40" b="0">
                <a:solidFill>
                  <a:srgbClr val="5B677E"/>
                </a:solidFill>
                <a:latin typeface="Aptos"/>
              </a:rPr>
              <a:t>Merge approved PRs automatically when all required validation and policy gates pass.</a:t>
            </a:r>
            <a:endParaRPr sz="94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822191"/>
            <a:ext cx="3383280" cy="1627632"/>
          </a:xfrm>
          <a:prstGeom prst="roundRect">
            <a:avLst/>
          </a:prstGeom>
          <a:solidFill>
            <a:srgbClr val="FCF1E7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059935"/>
            <a:ext cx="256032" cy="256032"/>
          </a:xfrm>
          <a:prstGeom prst="ellipse">
            <a:avLst/>
          </a:prstGeom>
          <a:solidFill>
            <a:srgbClr val="CD6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005072"/>
            <a:ext cx="23957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PRD → Jira automation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572000"/>
            <a:ext cx="2880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40" b="0">
                <a:solidFill>
                  <a:srgbClr val="5B677E"/>
                </a:solidFill>
                <a:latin typeface="Aptos"/>
              </a:rPr>
              <a:t>Generate Jira tickets from a PRD stored in S3, reducing manual requirement creation.</a:t>
            </a:r>
            <a:endParaRPr sz="94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15968" y="3822191"/>
            <a:ext cx="3383280" cy="1627632"/>
          </a:xfrm>
          <a:prstGeom prst="roundRect">
            <a:avLst/>
          </a:prstGeom>
          <a:solidFill>
            <a:srgbClr val="E8F7F7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4568" y="4059935"/>
            <a:ext cx="256032" cy="256032"/>
          </a:xfrm>
          <a:prstGeom prst="ellipse">
            <a:avLst/>
          </a:prstGeom>
          <a:solidFill>
            <a:srgbClr val="19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4005072"/>
            <a:ext cx="23957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Multi-model validation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4572000"/>
            <a:ext cx="2880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40" b="0">
                <a:solidFill>
                  <a:srgbClr val="5B677E"/>
                </a:solidFill>
                <a:latin typeface="Aptos"/>
              </a:rPr>
              <a:t>Use an independent model or agent to challenge plans and reduce model-specific errors.</a:t>
            </a:r>
            <a:endParaRPr sz="94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91856" y="3822191"/>
            <a:ext cx="3383280" cy="1627632"/>
          </a:xfrm>
          <a:prstGeom prst="roundRect">
            <a:avLst/>
          </a:prstGeom>
          <a:solidFill>
            <a:srgbClr val="FCEDF0"/>
          </a:solidFill>
          <a:ln w="10160">
            <a:solidFill>
              <a:srgbClr val="D6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0456" y="4059935"/>
            <a:ext cx="256032" cy="256032"/>
          </a:xfrm>
          <a:prstGeom prst="ellipse">
            <a:avLst/>
          </a:prstGeom>
          <a:solidFill>
            <a:srgbClr val="B5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0224" y="4005072"/>
            <a:ext cx="23957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50" b="1">
                <a:solidFill>
                  <a:srgbClr val="141F3D"/>
                </a:solidFill>
                <a:latin typeface="Aptos"/>
              </a:rPr>
              <a:t>Enterprise integrations</a:t>
            </a:r>
            <a:endParaRPr sz="115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0456" y="4572000"/>
            <a:ext cx="2880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40" b="0">
                <a:solidFill>
                  <a:srgbClr val="5B677E"/>
                </a:solidFill>
                <a:latin typeface="Aptos"/>
              </a:rPr>
              <a:t>Expand connectors across repositories, CI/CD platforms, ticketing and governance tools.</a:t>
            </a:r>
            <a:endParaRPr sz="940" b="0">
              <a:solidFill>
                <a:srgbClr val="5B677E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1">
                <a:solidFill>
                  <a:srgbClr val="5B677E"/>
                </a:solidFill>
                <a:latin typeface="Aptos"/>
              </a:rPr>
              <a:t>MAP MINDS  |  HI-TECH  |  CYBAGE HACKATHON 2026</a:t>
            </a:r>
            <a:endParaRPr sz="720" b="1">
              <a:solidFill>
                <a:srgbClr val="5B677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B3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33AE"/>
                </a:solidFill>
                <a:latin typeface="Aptos"/>
              </a:rPr>
              <a:t>MAP MINDS</a:t>
            </a:r>
            <a:endParaRPr sz="100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10972800" cy="914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4000" b="1">
                <a:solidFill>
                  <a:srgbClr val="141F3D"/>
                </a:solidFill>
                <a:latin typeface="Aptos"/>
              </a:rPr>
              <a:t>QUESTIONS &amp; DISCUSSIONS</a:t>
            </a:r>
            <a:endParaRPr sz="4000" b="1">
              <a:solidFill>
                <a:srgbClr val="141F3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3379153"/>
            <a:ext cx="10972800" cy="37401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5B33AE"/>
                </a:solidFill>
                <a:latin typeface="Aptos"/>
              </a:rPr>
              <a:t>THANK YOU</a:t>
            </a:r>
            <a:r>
              <a:rPr lang="en-US" sz="2200" b="1">
                <a:solidFill>
                  <a:srgbClr val="5B33AE"/>
                </a:solidFill>
                <a:latin typeface="Aptos"/>
              </a:rPr>
              <a:t> !</a:t>
            </a:r>
            <a:endParaRPr lang="en-US" sz="2200" b="1">
              <a:solidFill>
                <a:srgbClr val="5B33AE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37392" y="621792"/>
            <a:ext cx="3840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50" b="1">
                <a:solidFill>
                  <a:srgbClr val="5B677E"/>
                </a:solidFill>
                <a:latin typeface="Aptos"/>
              </a:rPr>
              <a:t>05</a:t>
            </a:r>
            <a:endParaRPr sz="850" b="1">
              <a:solidFill>
                <a:srgbClr val="5B677E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20" b="1">
                <a:solidFill>
                  <a:srgbClr val="5B677E"/>
                </a:solidFill>
                <a:latin typeface="Aptos"/>
              </a:rPr>
              <a:t>MAP MINDS  |  HI-TECH  |  CYBAGE HACKATHON 2026</a:t>
            </a:r>
            <a:endParaRPr sz="720" b="1">
              <a:solidFill>
                <a:srgbClr val="5B677E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2713</Words>
  <Application>WPS Presentation</Application>
  <PresentationFormat>On-screen Show (4:3)</PresentationFormat>
  <Paragraphs>158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debashism</cp:lastModifiedBy>
  <cp:revision>3</cp:revision>
  <dcterms:created xsi:type="dcterms:W3CDTF">2013-01-27T09:14:00Z</dcterms:created>
  <dcterms:modified xsi:type="dcterms:W3CDTF">2026-08-18T10:53:41Z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4CADCDDD48804875A33B5C15F59911DF_12</vt:lpwstr>
  </property>
  <property fmtid="{D5CDD505-2E9C-101B-9397-08002B2CF9AE}" pid="3" name="KSOProductBuildVer">
    <vt:lpwstr>2057-12.2.0.23206</vt:lpwstr>
  </property>
</Properties>
</file>